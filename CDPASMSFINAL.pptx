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F Providence Sans Bold" charset="1" panose="04010805020101010101"/>
      <p:regular r:id="rId17"/>
    </p:embeddedFont>
    <p:embeddedFont>
      <p:font typeface="Gochi Hand" charset="1" panose="00000000000000000000"/>
      <p:regular r:id="rId18"/>
    </p:embeddedFont>
    <p:embeddedFont>
      <p:font typeface="League Spartan" charset="1" panose="00000800000000000000"/>
      <p:regular r:id="rId19"/>
    </p:embeddedFont>
    <p:embeddedFont>
      <p:font typeface="FF Providence Sans" charset="1" panose="04010505020101010101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55247">
            <a:off x="2398369" y="6101504"/>
            <a:ext cx="4223342" cy="5427192"/>
          </a:xfrm>
          <a:custGeom>
            <a:avLst/>
            <a:gdLst/>
            <a:ahLst/>
            <a:cxnLst/>
            <a:rect r="r" b="b" t="t" l="l"/>
            <a:pathLst>
              <a:path h="5427192" w="4223342">
                <a:moveTo>
                  <a:pt x="0" y="0"/>
                </a:moveTo>
                <a:lnTo>
                  <a:pt x="4223342" y="0"/>
                </a:lnTo>
                <a:lnTo>
                  <a:pt x="4223342" y="5427192"/>
                </a:lnTo>
                <a:lnTo>
                  <a:pt x="0" y="5427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80170">
            <a:off x="11140213" y="6953041"/>
            <a:ext cx="4951799" cy="4285557"/>
          </a:xfrm>
          <a:custGeom>
            <a:avLst/>
            <a:gdLst/>
            <a:ahLst/>
            <a:cxnLst/>
            <a:rect r="r" b="b" t="t" l="l"/>
            <a:pathLst>
              <a:path h="4285557" w="4951799">
                <a:moveTo>
                  <a:pt x="0" y="0"/>
                </a:moveTo>
                <a:lnTo>
                  <a:pt x="4951799" y="0"/>
                </a:lnTo>
                <a:lnTo>
                  <a:pt x="4951799" y="4285557"/>
                </a:lnTo>
                <a:lnTo>
                  <a:pt x="0" y="4285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79162" y="1472047"/>
            <a:ext cx="36090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1"/>
              </a:lnSpc>
            </a:pPr>
          </a:p>
          <a:p>
            <a:pPr algn="ctr">
              <a:lnSpc>
                <a:spcPts val="168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329455" y="4188169"/>
            <a:ext cx="7660323" cy="7660323"/>
          </a:xfrm>
          <a:custGeom>
            <a:avLst/>
            <a:gdLst/>
            <a:ahLst/>
            <a:cxnLst/>
            <a:rect r="r" b="b" t="t" l="l"/>
            <a:pathLst>
              <a:path h="7660323" w="7660323">
                <a:moveTo>
                  <a:pt x="0" y="0"/>
                </a:moveTo>
                <a:lnTo>
                  <a:pt x="7660323" y="0"/>
                </a:lnTo>
                <a:lnTo>
                  <a:pt x="7660323" y="7660323"/>
                </a:lnTo>
                <a:lnTo>
                  <a:pt x="0" y="766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64910">
            <a:off x="15603657" y="6271468"/>
            <a:ext cx="626726" cy="605076"/>
          </a:xfrm>
          <a:custGeom>
            <a:avLst/>
            <a:gdLst/>
            <a:ahLst/>
            <a:cxnLst/>
            <a:rect r="r" b="b" t="t" l="l"/>
            <a:pathLst>
              <a:path h="605076" w="626726">
                <a:moveTo>
                  <a:pt x="0" y="0"/>
                </a:moveTo>
                <a:lnTo>
                  <a:pt x="626727" y="0"/>
                </a:lnTo>
                <a:lnTo>
                  <a:pt x="626727" y="605076"/>
                </a:lnTo>
                <a:lnTo>
                  <a:pt x="0" y="605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5007" y="5287591"/>
            <a:ext cx="612405" cy="371897"/>
          </a:xfrm>
          <a:custGeom>
            <a:avLst/>
            <a:gdLst/>
            <a:ahLst/>
            <a:cxnLst/>
            <a:rect r="r" b="b" t="t" l="l"/>
            <a:pathLst>
              <a:path h="371897" w="612405">
                <a:moveTo>
                  <a:pt x="0" y="0"/>
                </a:moveTo>
                <a:lnTo>
                  <a:pt x="612405" y="0"/>
                </a:lnTo>
                <a:lnTo>
                  <a:pt x="612405" y="371897"/>
                </a:lnTo>
                <a:lnTo>
                  <a:pt x="0" y="371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910945">
            <a:off x="14569008" y="1823342"/>
            <a:ext cx="876506" cy="556454"/>
          </a:xfrm>
          <a:custGeom>
            <a:avLst/>
            <a:gdLst/>
            <a:ahLst/>
            <a:cxnLst/>
            <a:rect r="r" b="b" t="t" l="l"/>
            <a:pathLst>
              <a:path h="556454" w="876506">
                <a:moveTo>
                  <a:pt x="0" y="0"/>
                </a:moveTo>
                <a:lnTo>
                  <a:pt x="876506" y="0"/>
                </a:lnTo>
                <a:lnTo>
                  <a:pt x="876506" y="556453"/>
                </a:lnTo>
                <a:lnTo>
                  <a:pt x="0" y="5564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944566">
            <a:off x="1979214" y="2589401"/>
            <a:ext cx="670529" cy="265137"/>
          </a:xfrm>
          <a:custGeom>
            <a:avLst/>
            <a:gdLst/>
            <a:ahLst/>
            <a:cxnLst/>
            <a:rect r="r" b="b" t="t" l="l"/>
            <a:pathLst>
              <a:path h="265137" w="670529">
                <a:moveTo>
                  <a:pt x="0" y="0"/>
                </a:moveTo>
                <a:lnTo>
                  <a:pt x="670528" y="0"/>
                </a:lnTo>
                <a:lnTo>
                  <a:pt x="670528" y="265137"/>
                </a:lnTo>
                <a:lnTo>
                  <a:pt x="0" y="265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944566">
            <a:off x="1794632" y="2341360"/>
            <a:ext cx="528735" cy="209070"/>
          </a:xfrm>
          <a:custGeom>
            <a:avLst/>
            <a:gdLst/>
            <a:ahLst/>
            <a:cxnLst/>
            <a:rect r="r" b="b" t="t" l="l"/>
            <a:pathLst>
              <a:path h="209070" w="528735">
                <a:moveTo>
                  <a:pt x="0" y="0"/>
                </a:moveTo>
                <a:lnTo>
                  <a:pt x="528735" y="0"/>
                </a:lnTo>
                <a:lnTo>
                  <a:pt x="528735" y="209070"/>
                </a:lnTo>
                <a:lnTo>
                  <a:pt x="0" y="2090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14542" y="285270"/>
            <a:ext cx="1090148" cy="862043"/>
          </a:xfrm>
          <a:custGeom>
            <a:avLst/>
            <a:gdLst/>
            <a:ahLst/>
            <a:cxnLst/>
            <a:rect r="r" b="b" t="t" l="l"/>
            <a:pathLst>
              <a:path h="862043" w="1090148">
                <a:moveTo>
                  <a:pt x="0" y="0"/>
                </a:moveTo>
                <a:lnTo>
                  <a:pt x="1090148" y="0"/>
                </a:lnTo>
                <a:lnTo>
                  <a:pt x="1090148" y="862043"/>
                </a:lnTo>
                <a:lnTo>
                  <a:pt x="0" y="8620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24696" y="1913500"/>
            <a:ext cx="9838607" cy="168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6"/>
              </a:lnSpc>
              <a:spcBef>
                <a:spcPct val="0"/>
              </a:spcBef>
            </a:pPr>
            <a:r>
              <a:rPr lang="en-US" b="true" sz="4447">
                <a:solidFill>
                  <a:srgbClr val="474037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Catarman Dog Pound &amp; </a:t>
            </a:r>
          </a:p>
          <a:p>
            <a:pPr algn="ctr">
              <a:lnSpc>
                <a:spcPts val="6226"/>
              </a:lnSpc>
              <a:spcBef>
                <a:spcPct val="0"/>
              </a:spcBef>
            </a:pPr>
            <a:r>
              <a:rPr lang="en-US" b="true" sz="4447">
                <a:solidFill>
                  <a:srgbClr val="474037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Animal Shelter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223" y="627137"/>
            <a:ext cx="6468400" cy="119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0"/>
              </a:lnSpc>
            </a:pPr>
            <a:r>
              <a:rPr lang="en-US" sz="10426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76841" y="2974027"/>
            <a:ext cx="5522737" cy="8231721"/>
          </a:xfrm>
          <a:custGeom>
            <a:avLst/>
            <a:gdLst/>
            <a:ahLst/>
            <a:cxnLst/>
            <a:rect r="r" b="b" t="t" l="l"/>
            <a:pathLst>
              <a:path h="8231721" w="5522737">
                <a:moveTo>
                  <a:pt x="0" y="0"/>
                </a:moveTo>
                <a:lnTo>
                  <a:pt x="5522737" y="0"/>
                </a:lnTo>
                <a:lnTo>
                  <a:pt x="5522737" y="8231722"/>
                </a:lnTo>
                <a:lnTo>
                  <a:pt x="0" y="82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59803" y="7324187"/>
            <a:ext cx="3001007" cy="2962813"/>
          </a:xfrm>
          <a:custGeom>
            <a:avLst/>
            <a:gdLst/>
            <a:ahLst/>
            <a:cxnLst/>
            <a:rect r="r" b="b" t="t" l="l"/>
            <a:pathLst>
              <a:path h="2962813" w="3001007">
                <a:moveTo>
                  <a:pt x="0" y="0"/>
                </a:moveTo>
                <a:lnTo>
                  <a:pt x="3001007" y="0"/>
                </a:lnTo>
                <a:lnTo>
                  <a:pt x="3001007" y="2962813"/>
                </a:lnTo>
                <a:lnTo>
                  <a:pt x="0" y="2962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247427">
            <a:off x="13169955" y="5184794"/>
            <a:ext cx="1178694" cy="487131"/>
          </a:xfrm>
          <a:custGeom>
            <a:avLst/>
            <a:gdLst/>
            <a:ahLst/>
            <a:cxnLst/>
            <a:rect r="r" b="b" t="t" l="l"/>
            <a:pathLst>
              <a:path h="487131" w="1178694">
                <a:moveTo>
                  <a:pt x="0" y="0"/>
                </a:moveTo>
                <a:lnTo>
                  <a:pt x="1178694" y="0"/>
                </a:lnTo>
                <a:lnTo>
                  <a:pt x="1178694" y="487131"/>
                </a:lnTo>
                <a:lnTo>
                  <a:pt x="0" y="487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34829" y="1649719"/>
            <a:ext cx="653863" cy="171069"/>
          </a:xfrm>
          <a:custGeom>
            <a:avLst/>
            <a:gdLst/>
            <a:ahLst/>
            <a:cxnLst/>
            <a:rect r="r" b="b" t="t" l="l"/>
            <a:pathLst>
              <a:path h="171069" w="653863">
                <a:moveTo>
                  <a:pt x="0" y="0"/>
                </a:moveTo>
                <a:lnTo>
                  <a:pt x="653864" y="0"/>
                </a:lnTo>
                <a:lnTo>
                  <a:pt x="653864" y="171069"/>
                </a:lnTo>
                <a:lnTo>
                  <a:pt x="0" y="171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2265" y="2554261"/>
            <a:ext cx="10978199" cy="51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153" indent="-265076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project addresses inefficiencies of manual, paper-based animal shelter operations</a:t>
            </a:r>
          </a:p>
          <a:p>
            <a:pPr algn="l">
              <a:lnSpc>
                <a:spcPts val="3437"/>
              </a:lnSpc>
            </a:pPr>
          </a:p>
          <a:p>
            <a:pPr algn="l" marL="530153" indent="-265076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Focuses on Catarman Dog Pound &amp; Animal Birth Control Center</a:t>
            </a:r>
          </a:p>
          <a:p>
            <a:pPr algn="l">
              <a:lnSpc>
                <a:spcPts val="3437"/>
              </a:lnSpc>
            </a:pPr>
          </a:p>
          <a:p>
            <a:pPr algn="l" marL="530153" indent="-265076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Introduces a web-based management system</a:t>
            </a:r>
          </a:p>
          <a:p>
            <a:pPr algn="l">
              <a:lnSpc>
                <a:spcPts val="3437"/>
              </a:lnSpc>
            </a:pPr>
          </a:p>
          <a:p>
            <a:pPr algn="l" marL="530153" indent="-265076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Supports animal welfare, adoption, inventory, billing, and reporting</a:t>
            </a:r>
          </a:p>
          <a:p>
            <a:pPr algn="l">
              <a:lnSpc>
                <a:spcPts val="3437"/>
              </a:lnSpc>
            </a:pPr>
          </a:p>
          <a:p>
            <a:pPr algn="l" marL="530153" indent="-265076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Stakeholders: Administrators, Staff, Veterinarians, Adopters</a:t>
            </a:r>
          </a:p>
          <a:p>
            <a:pPr algn="l">
              <a:lnSpc>
                <a:spcPts val="343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70195" y="1592378"/>
            <a:ext cx="5851170" cy="5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1B91E6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Key points to highlight on slides: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4910">
            <a:off x="6868131" y="237544"/>
            <a:ext cx="626726" cy="605076"/>
          </a:xfrm>
          <a:custGeom>
            <a:avLst/>
            <a:gdLst/>
            <a:ahLst/>
            <a:cxnLst/>
            <a:rect r="r" b="b" t="t" l="l"/>
            <a:pathLst>
              <a:path h="605076" w="626726">
                <a:moveTo>
                  <a:pt x="0" y="0"/>
                </a:moveTo>
                <a:lnTo>
                  <a:pt x="626727" y="0"/>
                </a:lnTo>
                <a:lnTo>
                  <a:pt x="626727" y="605076"/>
                </a:lnTo>
                <a:lnTo>
                  <a:pt x="0" y="60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3127" y="2383216"/>
            <a:ext cx="612405" cy="371897"/>
          </a:xfrm>
          <a:custGeom>
            <a:avLst/>
            <a:gdLst/>
            <a:ahLst/>
            <a:cxnLst/>
            <a:rect r="r" b="b" t="t" l="l"/>
            <a:pathLst>
              <a:path h="371897" w="612405">
                <a:moveTo>
                  <a:pt x="0" y="0"/>
                </a:moveTo>
                <a:lnTo>
                  <a:pt x="612405" y="0"/>
                </a:lnTo>
                <a:lnTo>
                  <a:pt x="612405" y="371897"/>
                </a:lnTo>
                <a:lnTo>
                  <a:pt x="0" y="37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10945">
            <a:off x="17118417" y="345787"/>
            <a:ext cx="876506" cy="556454"/>
          </a:xfrm>
          <a:custGeom>
            <a:avLst/>
            <a:gdLst/>
            <a:ahLst/>
            <a:cxnLst/>
            <a:rect r="r" b="b" t="t" l="l"/>
            <a:pathLst>
              <a:path h="556454" w="876506">
                <a:moveTo>
                  <a:pt x="0" y="0"/>
                </a:moveTo>
                <a:lnTo>
                  <a:pt x="876506" y="0"/>
                </a:lnTo>
                <a:lnTo>
                  <a:pt x="876506" y="556454"/>
                </a:lnTo>
                <a:lnTo>
                  <a:pt x="0" y="55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547" y="585043"/>
            <a:ext cx="6163805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8270" y="1780005"/>
            <a:ext cx="4972964" cy="60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sz="2893">
                <a:solidFill>
                  <a:srgbClr val="1B91E6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General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5661" y="3697377"/>
            <a:ext cx="12044392" cy="307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design and develop a web-based record management system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 efficiency, accuracy, transparency, and animal welfare</a:t>
            </a:r>
          </a:p>
          <a:p>
            <a:pPr algn="l">
              <a:lnSpc>
                <a:spcPts val="49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64910">
            <a:off x="6868131" y="237544"/>
            <a:ext cx="626726" cy="605076"/>
          </a:xfrm>
          <a:custGeom>
            <a:avLst/>
            <a:gdLst/>
            <a:ahLst/>
            <a:cxnLst/>
            <a:rect r="r" b="b" t="t" l="l"/>
            <a:pathLst>
              <a:path h="605076" w="626726">
                <a:moveTo>
                  <a:pt x="0" y="0"/>
                </a:moveTo>
                <a:lnTo>
                  <a:pt x="626727" y="0"/>
                </a:lnTo>
                <a:lnTo>
                  <a:pt x="626727" y="605076"/>
                </a:lnTo>
                <a:lnTo>
                  <a:pt x="0" y="60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3127" y="2383216"/>
            <a:ext cx="612405" cy="371897"/>
          </a:xfrm>
          <a:custGeom>
            <a:avLst/>
            <a:gdLst/>
            <a:ahLst/>
            <a:cxnLst/>
            <a:rect r="r" b="b" t="t" l="l"/>
            <a:pathLst>
              <a:path h="371897" w="612405">
                <a:moveTo>
                  <a:pt x="0" y="0"/>
                </a:moveTo>
                <a:lnTo>
                  <a:pt x="612405" y="0"/>
                </a:lnTo>
                <a:lnTo>
                  <a:pt x="612405" y="371897"/>
                </a:lnTo>
                <a:lnTo>
                  <a:pt x="0" y="371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10945">
            <a:off x="17118417" y="345787"/>
            <a:ext cx="876506" cy="556454"/>
          </a:xfrm>
          <a:custGeom>
            <a:avLst/>
            <a:gdLst/>
            <a:ahLst/>
            <a:cxnLst/>
            <a:rect r="r" b="b" t="t" l="l"/>
            <a:pathLst>
              <a:path h="556454" w="876506">
                <a:moveTo>
                  <a:pt x="0" y="0"/>
                </a:moveTo>
                <a:lnTo>
                  <a:pt x="876506" y="0"/>
                </a:lnTo>
                <a:lnTo>
                  <a:pt x="876506" y="556454"/>
                </a:lnTo>
                <a:lnTo>
                  <a:pt x="0" y="5564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547" y="585043"/>
            <a:ext cx="6163805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8270" y="1780005"/>
            <a:ext cx="4972964" cy="60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2893">
                <a:solidFill>
                  <a:srgbClr val="1B91E6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Specific Objectives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9714" y="2502490"/>
            <a:ext cx="12044392" cy="616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Group them logically: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 &amp; technology (HTML, CSS, JS, PHP, MySQL)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Animal, adopter, and veterinarian profile management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Inventory, billing, and reporting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Role-based access control &amp; security</a:t>
            </a:r>
          </a:p>
          <a:p>
            <a:pPr algn="l" marL="756512" indent="-378256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evaluation (performance, efficiency, security, acceptability)</a:t>
            </a:r>
          </a:p>
          <a:p>
            <a:pPr algn="l">
              <a:lnSpc>
                <a:spcPts val="49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19890">
            <a:off x="1086839" y="662138"/>
            <a:ext cx="11399233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Scope &amp; Limitations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110994">
            <a:off x="407036" y="9499203"/>
            <a:ext cx="431652" cy="702392"/>
          </a:xfrm>
          <a:custGeom>
            <a:avLst/>
            <a:gdLst/>
            <a:ahLst/>
            <a:cxnLst/>
            <a:rect r="r" b="b" t="t" l="l"/>
            <a:pathLst>
              <a:path h="702392" w="431652">
                <a:moveTo>
                  <a:pt x="0" y="0"/>
                </a:moveTo>
                <a:lnTo>
                  <a:pt x="431651" y="0"/>
                </a:lnTo>
                <a:lnTo>
                  <a:pt x="431651" y="702392"/>
                </a:lnTo>
                <a:lnTo>
                  <a:pt x="0" y="70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303273">
            <a:off x="411364" y="1688800"/>
            <a:ext cx="835442" cy="345272"/>
          </a:xfrm>
          <a:custGeom>
            <a:avLst/>
            <a:gdLst/>
            <a:ahLst/>
            <a:cxnLst/>
            <a:rect r="r" b="b" t="t" l="l"/>
            <a:pathLst>
              <a:path h="345272" w="835442">
                <a:moveTo>
                  <a:pt x="835442" y="0"/>
                </a:moveTo>
                <a:lnTo>
                  <a:pt x="0" y="0"/>
                </a:lnTo>
                <a:lnTo>
                  <a:pt x="0" y="345272"/>
                </a:lnTo>
                <a:lnTo>
                  <a:pt x="835442" y="345272"/>
                </a:lnTo>
                <a:lnTo>
                  <a:pt x="8354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33993"/>
            <a:ext cx="1052417" cy="1039022"/>
          </a:xfrm>
          <a:custGeom>
            <a:avLst/>
            <a:gdLst/>
            <a:ahLst/>
            <a:cxnLst/>
            <a:rect r="r" b="b" t="t" l="l"/>
            <a:pathLst>
              <a:path h="1039022" w="1052417">
                <a:moveTo>
                  <a:pt x="0" y="0"/>
                </a:moveTo>
                <a:lnTo>
                  <a:pt x="1052417" y="0"/>
                </a:lnTo>
                <a:lnTo>
                  <a:pt x="1052417" y="1039022"/>
                </a:lnTo>
                <a:lnTo>
                  <a:pt x="0" y="103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738523" y="1947809"/>
            <a:ext cx="4788227" cy="83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b="true" sz="3985">
                <a:solidFill>
                  <a:srgbClr val="1B91E6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Scope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45643" y="2818575"/>
            <a:ext cx="8252550" cy="674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Include:</a:t>
            </a:r>
          </a:p>
          <a:p>
            <a:pPr algn="l" marL="639005" indent="-319502" lvl="1">
              <a:lnSpc>
                <a:spcPts val="4143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Functional scope: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Animal profiles &amp; medical records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Adoption management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Inventory &amp; billing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Reports and audit logs</a:t>
            </a:r>
          </a:p>
          <a:p>
            <a:pPr algn="l" marL="639005" indent="-319502" lvl="1">
              <a:lnSpc>
                <a:spcPts val="4143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Geographic scope: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Catarman, Northern Samar</a:t>
            </a:r>
          </a:p>
          <a:p>
            <a:pPr algn="l" marL="639005" indent="-319502" lvl="1">
              <a:lnSpc>
                <a:spcPts val="4143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scope: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Admin, Staff, Veterinarian, Adopter</a:t>
            </a:r>
          </a:p>
          <a:p>
            <a:pPr algn="l" marL="639005" indent="-319502" lvl="1">
              <a:lnSpc>
                <a:spcPts val="4143"/>
              </a:lnSpc>
              <a:buFont typeface="Arial"/>
              <a:buChar char="•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scope:</a:t>
            </a:r>
          </a:p>
          <a:p>
            <a:pPr algn="l" marL="1278009" indent="-426003" lvl="2">
              <a:lnSpc>
                <a:spcPts val="4143"/>
              </a:lnSpc>
              <a:buFont typeface="Arial"/>
              <a:buChar char="⚬"/>
            </a:pPr>
            <a:r>
              <a:rPr lang="en-US" sz="29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Web-based, browser-accessible</a:t>
            </a:r>
          </a:p>
          <a:p>
            <a:pPr algn="l">
              <a:lnSpc>
                <a:spcPts val="41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119890">
            <a:off x="1086839" y="662138"/>
            <a:ext cx="11399233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Scope &amp; Limitations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110994">
            <a:off x="407036" y="9499203"/>
            <a:ext cx="431652" cy="702392"/>
          </a:xfrm>
          <a:custGeom>
            <a:avLst/>
            <a:gdLst/>
            <a:ahLst/>
            <a:cxnLst/>
            <a:rect r="r" b="b" t="t" l="l"/>
            <a:pathLst>
              <a:path h="702392" w="431652">
                <a:moveTo>
                  <a:pt x="0" y="0"/>
                </a:moveTo>
                <a:lnTo>
                  <a:pt x="431651" y="0"/>
                </a:lnTo>
                <a:lnTo>
                  <a:pt x="431651" y="702392"/>
                </a:lnTo>
                <a:lnTo>
                  <a:pt x="0" y="70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303273">
            <a:off x="411364" y="1688800"/>
            <a:ext cx="835442" cy="345272"/>
          </a:xfrm>
          <a:custGeom>
            <a:avLst/>
            <a:gdLst/>
            <a:ahLst/>
            <a:cxnLst/>
            <a:rect r="r" b="b" t="t" l="l"/>
            <a:pathLst>
              <a:path h="345272" w="835442">
                <a:moveTo>
                  <a:pt x="835442" y="0"/>
                </a:moveTo>
                <a:lnTo>
                  <a:pt x="0" y="0"/>
                </a:lnTo>
                <a:lnTo>
                  <a:pt x="0" y="345272"/>
                </a:lnTo>
                <a:lnTo>
                  <a:pt x="835442" y="345272"/>
                </a:lnTo>
                <a:lnTo>
                  <a:pt x="8354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33993"/>
            <a:ext cx="1052417" cy="1039022"/>
          </a:xfrm>
          <a:custGeom>
            <a:avLst/>
            <a:gdLst/>
            <a:ahLst/>
            <a:cxnLst/>
            <a:rect r="r" b="b" t="t" l="l"/>
            <a:pathLst>
              <a:path h="1039022" w="1052417">
                <a:moveTo>
                  <a:pt x="0" y="0"/>
                </a:moveTo>
                <a:lnTo>
                  <a:pt x="1052417" y="0"/>
                </a:lnTo>
                <a:lnTo>
                  <a:pt x="1052417" y="1039022"/>
                </a:lnTo>
                <a:lnTo>
                  <a:pt x="0" y="103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738523" y="1947809"/>
            <a:ext cx="4788227" cy="83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b="true" sz="3985">
                <a:solidFill>
                  <a:srgbClr val="1B91E6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4914" y="3015859"/>
            <a:ext cx="10033224" cy="48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Explicit exclusions:</a:t>
            </a:r>
          </a:p>
          <a:p>
            <a:pPr algn="l" marL="743654" indent="-371827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mobile app (web-responsive only)</a:t>
            </a:r>
          </a:p>
          <a:p>
            <a:pPr algn="l" marL="743654" indent="-371827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GPS tracking</a:t>
            </a:r>
          </a:p>
          <a:p>
            <a:pPr algn="l" marL="743654" indent="-371827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AI animal recognition</a:t>
            </a:r>
          </a:p>
          <a:p>
            <a:pPr algn="l" marL="743654" indent="-371827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integration with external vet systems</a:t>
            </a:r>
          </a:p>
          <a:p>
            <a:pPr algn="l" marL="743654" indent="-371827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national animal database integration</a:t>
            </a:r>
          </a:p>
          <a:p>
            <a:pPr algn="l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</a:p>
          <a:p>
            <a:pPr algn="l">
              <a:lnSpc>
                <a:spcPts val="48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10945">
            <a:off x="17161048" y="8980073"/>
            <a:ext cx="876506" cy="556454"/>
          </a:xfrm>
          <a:custGeom>
            <a:avLst/>
            <a:gdLst/>
            <a:ahLst/>
            <a:cxnLst/>
            <a:rect r="r" b="b" t="t" l="l"/>
            <a:pathLst>
              <a:path h="556454" w="876506">
                <a:moveTo>
                  <a:pt x="0" y="0"/>
                </a:moveTo>
                <a:lnTo>
                  <a:pt x="876506" y="0"/>
                </a:lnTo>
                <a:lnTo>
                  <a:pt x="876506" y="556454"/>
                </a:lnTo>
                <a:lnTo>
                  <a:pt x="0" y="556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799" y="9512857"/>
            <a:ext cx="583826" cy="601319"/>
          </a:xfrm>
          <a:custGeom>
            <a:avLst/>
            <a:gdLst/>
            <a:ahLst/>
            <a:cxnLst/>
            <a:rect r="r" b="b" t="t" l="l"/>
            <a:pathLst>
              <a:path h="601319" w="583826">
                <a:moveTo>
                  <a:pt x="0" y="0"/>
                </a:moveTo>
                <a:lnTo>
                  <a:pt x="583826" y="0"/>
                </a:lnTo>
                <a:lnTo>
                  <a:pt x="583826" y="601319"/>
                </a:lnTo>
                <a:lnTo>
                  <a:pt x="0" y="601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271" y="1888118"/>
            <a:ext cx="626726" cy="605076"/>
          </a:xfrm>
          <a:custGeom>
            <a:avLst/>
            <a:gdLst/>
            <a:ahLst/>
            <a:cxnLst/>
            <a:rect r="r" b="b" t="t" l="l"/>
            <a:pathLst>
              <a:path h="605076" w="626726">
                <a:moveTo>
                  <a:pt x="0" y="0"/>
                </a:moveTo>
                <a:lnTo>
                  <a:pt x="626726" y="0"/>
                </a:lnTo>
                <a:lnTo>
                  <a:pt x="626726" y="605075"/>
                </a:lnTo>
                <a:lnTo>
                  <a:pt x="0" y="605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8404">
            <a:off x="4402304" y="152635"/>
            <a:ext cx="1480233" cy="611751"/>
          </a:xfrm>
          <a:custGeom>
            <a:avLst/>
            <a:gdLst/>
            <a:ahLst/>
            <a:cxnLst/>
            <a:rect r="r" b="b" t="t" l="l"/>
            <a:pathLst>
              <a:path h="611751" w="1480233">
                <a:moveTo>
                  <a:pt x="0" y="0"/>
                </a:moveTo>
                <a:lnTo>
                  <a:pt x="1480233" y="0"/>
                </a:lnTo>
                <a:lnTo>
                  <a:pt x="1480233" y="611752"/>
                </a:lnTo>
                <a:lnTo>
                  <a:pt x="0" y="6117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2712" y="572178"/>
            <a:ext cx="8887708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5334" y="2028501"/>
            <a:ext cx="5474174" cy="91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1"/>
              </a:lnSpc>
            </a:pPr>
            <a:r>
              <a:rPr lang="en-US" sz="7889">
                <a:solidFill>
                  <a:srgbClr val="1B91E6"/>
                </a:solidFill>
                <a:latin typeface="Gochi Hand"/>
                <a:ea typeface="Gochi Hand"/>
                <a:cs typeface="Gochi Hand"/>
                <a:sym typeface="Gochi Hand"/>
              </a:rPr>
              <a:t>Key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0271" y="2884293"/>
            <a:ext cx="12967041" cy="678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Performance: Weighted Mean = 4.8 (Highly Acceptable) </a:t>
            </a:r>
          </a:p>
          <a:p>
            <a:pPr algn="l">
              <a:lnSpc>
                <a:spcPts val="3843"/>
              </a:lnSpc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Information Quality: Weighted Mean = 5.0 (Highly Acceptable)</a:t>
            </a:r>
          </a:p>
          <a:p>
            <a:pPr algn="l">
              <a:lnSpc>
                <a:spcPts val="3843"/>
              </a:lnSpc>
            </a:pPr>
          </a:p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Efficiency: Weighted Mean = 4.8 (Highly Acceptable)</a:t>
            </a:r>
          </a:p>
          <a:p>
            <a:pPr algn="l">
              <a:lnSpc>
                <a:spcPts val="3843"/>
              </a:lnSpc>
            </a:pPr>
          </a:p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 &amp; Security: Highly acceptable RBAC, audit logs, validation</a:t>
            </a:r>
          </a:p>
          <a:p>
            <a:pPr algn="l">
              <a:lnSpc>
                <a:spcPts val="3843"/>
              </a:lnSpc>
            </a:pPr>
          </a:p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Economics: Highly Acceptable (cost-efficient, reduced paperwork, open-source technologies)</a:t>
            </a:r>
          </a:p>
          <a:p>
            <a:pPr algn="l">
              <a:lnSpc>
                <a:spcPts val="3843"/>
              </a:lnSpc>
            </a:pPr>
          </a:p>
          <a:p>
            <a:pPr algn="l" marL="592743" indent="-296371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Services: Highly Acceptable (improved service delivery, faster adoption processing)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6623" y="6098988"/>
            <a:ext cx="536550" cy="536550"/>
          </a:xfrm>
          <a:custGeom>
            <a:avLst/>
            <a:gdLst/>
            <a:ahLst/>
            <a:cxnLst/>
            <a:rect r="r" b="b" t="t" l="l"/>
            <a:pathLst>
              <a:path h="536550" w="536550">
                <a:moveTo>
                  <a:pt x="0" y="0"/>
                </a:moveTo>
                <a:lnTo>
                  <a:pt x="536550" y="0"/>
                </a:lnTo>
                <a:lnTo>
                  <a:pt x="536550" y="536551"/>
                </a:lnTo>
                <a:lnTo>
                  <a:pt x="0" y="53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3705" y="4472277"/>
            <a:ext cx="402948" cy="402948"/>
          </a:xfrm>
          <a:custGeom>
            <a:avLst/>
            <a:gdLst/>
            <a:ahLst/>
            <a:cxnLst/>
            <a:rect r="r" b="b" t="t" l="l"/>
            <a:pathLst>
              <a:path h="402948" w="402948">
                <a:moveTo>
                  <a:pt x="0" y="0"/>
                </a:moveTo>
                <a:lnTo>
                  <a:pt x="402948" y="0"/>
                </a:lnTo>
                <a:lnTo>
                  <a:pt x="402948" y="402948"/>
                </a:lnTo>
                <a:lnTo>
                  <a:pt x="0" y="40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16246">
            <a:off x="1620293" y="2900088"/>
            <a:ext cx="1527631" cy="631340"/>
          </a:xfrm>
          <a:custGeom>
            <a:avLst/>
            <a:gdLst/>
            <a:ahLst/>
            <a:cxnLst/>
            <a:rect r="r" b="b" t="t" l="l"/>
            <a:pathLst>
              <a:path h="631340" w="1527631">
                <a:moveTo>
                  <a:pt x="1527631" y="0"/>
                </a:moveTo>
                <a:lnTo>
                  <a:pt x="0" y="0"/>
                </a:lnTo>
                <a:lnTo>
                  <a:pt x="0" y="631340"/>
                </a:lnTo>
                <a:lnTo>
                  <a:pt x="1527631" y="631340"/>
                </a:lnTo>
                <a:lnTo>
                  <a:pt x="15276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41573" y="3339101"/>
            <a:ext cx="568624" cy="606092"/>
          </a:xfrm>
          <a:custGeom>
            <a:avLst/>
            <a:gdLst/>
            <a:ahLst/>
            <a:cxnLst/>
            <a:rect r="r" b="b" t="t" l="l"/>
            <a:pathLst>
              <a:path h="606092" w="568624">
                <a:moveTo>
                  <a:pt x="0" y="0"/>
                </a:moveTo>
                <a:lnTo>
                  <a:pt x="568624" y="0"/>
                </a:lnTo>
                <a:lnTo>
                  <a:pt x="568624" y="606092"/>
                </a:lnTo>
                <a:lnTo>
                  <a:pt x="0" y="606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8378" y="2429343"/>
            <a:ext cx="11572721" cy="15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13655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Walkthrough of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66303" y="5274246"/>
            <a:ext cx="8556871" cy="15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4"/>
              </a:lnSpc>
            </a:pPr>
            <a:r>
              <a:rPr lang="en-US" sz="13655">
                <a:solidFill>
                  <a:srgbClr val="1B91E6"/>
                </a:solidFill>
                <a:latin typeface="Gochi Hand"/>
                <a:ea typeface="Gochi Hand"/>
                <a:cs typeface="Gochi Hand"/>
                <a:sym typeface="Gochi Hand"/>
              </a:rPr>
              <a:t>the System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2842">
            <a:off x="10985980" y="2822405"/>
            <a:ext cx="536550" cy="536550"/>
          </a:xfrm>
          <a:custGeom>
            <a:avLst/>
            <a:gdLst/>
            <a:ahLst/>
            <a:cxnLst/>
            <a:rect r="r" b="b" t="t" l="l"/>
            <a:pathLst>
              <a:path h="536550" w="536550">
                <a:moveTo>
                  <a:pt x="0" y="0"/>
                </a:moveTo>
                <a:lnTo>
                  <a:pt x="536550" y="0"/>
                </a:lnTo>
                <a:lnTo>
                  <a:pt x="536550" y="536551"/>
                </a:lnTo>
                <a:lnTo>
                  <a:pt x="0" y="53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72804">
            <a:off x="1742542" y="3333718"/>
            <a:ext cx="1159200" cy="314599"/>
          </a:xfrm>
          <a:custGeom>
            <a:avLst/>
            <a:gdLst/>
            <a:ahLst/>
            <a:cxnLst/>
            <a:rect r="r" b="b" t="t" l="l"/>
            <a:pathLst>
              <a:path h="314599" w="1159200">
                <a:moveTo>
                  <a:pt x="0" y="0"/>
                </a:moveTo>
                <a:lnTo>
                  <a:pt x="1159200" y="0"/>
                </a:lnTo>
                <a:lnTo>
                  <a:pt x="1159200" y="314600"/>
                </a:lnTo>
                <a:lnTo>
                  <a:pt x="0" y="31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457325"/>
            <a:ext cx="8887708" cy="131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0942" y="3535406"/>
            <a:ext cx="9125547" cy="506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</a:p>
          <a:p>
            <a:pPr algn="l" marL="617032" indent="-308516" lvl="1">
              <a:lnSpc>
                <a:spcPts val="4001"/>
              </a:lnSpc>
              <a:buFont typeface="Arial"/>
              <a:buChar char="•"/>
            </a:pPr>
            <a:r>
              <a:rPr lang="en-US" sz="2857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system successfully digitizes shelter operations</a:t>
            </a:r>
          </a:p>
          <a:p>
            <a:pPr algn="l" marL="617032" indent="-308516" lvl="1">
              <a:lnSpc>
                <a:spcPts val="4001"/>
              </a:lnSpc>
              <a:buFont typeface="Arial"/>
              <a:buChar char="•"/>
            </a:pPr>
            <a:r>
              <a:rPr lang="en-US" sz="2857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Improves efficiency, transparency, and data accuracy</a:t>
            </a:r>
          </a:p>
          <a:p>
            <a:pPr algn="l" marL="617032" indent="-308516" lvl="1">
              <a:lnSpc>
                <a:spcPts val="4001"/>
              </a:lnSpc>
              <a:buFont typeface="Arial"/>
              <a:buChar char="•"/>
            </a:pPr>
            <a:r>
              <a:rPr lang="en-US" sz="2857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Supports animal welfare and LGU compliance</a:t>
            </a:r>
          </a:p>
          <a:p>
            <a:pPr algn="l" marL="617032" indent="-308516" lvl="1">
              <a:lnSpc>
                <a:spcPts val="4001"/>
              </a:lnSpc>
              <a:buFont typeface="Arial"/>
              <a:buChar char="•"/>
            </a:pPr>
            <a:r>
              <a:rPr lang="en-US" sz="2857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Demonstrates effectiveness of web-based solutions in public service</a:t>
            </a:r>
          </a:p>
          <a:p>
            <a:pPr algn="l">
              <a:lnSpc>
                <a:spcPts val="400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29989" y="2701211"/>
            <a:ext cx="3818838" cy="70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6094">
                <a:solidFill>
                  <a:srgbClr val="1B91E6"/>
                </a:solidFill>
                <a:latin typeface="Gochi Hand"/>
                <a:ea typeface="Gochi Hand"/>
                <a:cs typeface="Gochi Hand"/>
                <a:sym typeface="Gochi Hand"/>
              </a:rPr>
              <a:t>Key points: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6340">
            <a:off x="314025" y="1816475"/>
            <a:ext cx="1178694" cy="487131"/>
          </a:xfrm>
          <a:custGeom>
            <a:avLst/>
            <a:gdLst/>
            <a:ahLst/>
            <a:cxnLst/>
            <a:rect r="r" b="b" t="t" l="l"/>
            <a:pathLst>
              <a:path h="487131" w="1178694">
                <a:moveTo>
                  <a:pt x="0" y="0"/>
                </a:moveTo>
                <a:lnTo>
                  <a:pt x="1178694" y="0"/>
                </a:lnTo>
                <a:lnTo>
                  <a:pt x="1178694" y="487131"/>
                </a:lnTo>
                <a:lnTo>
                  <a:pt x="0" y="48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137" y="584667"/>
            <a:ext cx="11119644" cy="131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85"/>
              </a:lnSpc>
            </a:pPr>
            <a:r>
              <a:rPr lang="en-US" sz="11481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2840" y="2660340"/>
            <a:ext cx="13286033" cy="515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Realtime notifications </a:t>
            </a:r>
          </a:p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SMS support </a:t>
            </a:r>
          </a:p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GPS tracking </a:t>
            </a:r>
          </a:p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embedded systems for tracking </a:t>
            </a:r>
          </a:p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 a Mobile Application </a:t>
            </a:r>
          </a:p>
          <a:p>
            <a:pPr algn="l">
              <a:lnSpc>
                <a:spcPts val="5825"/>
              </a:lnSpc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AI suggestions for food intake </a:t>
            </a:r>
          </a:p>
          <a:p>
            <a:pPr algn="l">
              <a:lnSpc>
                <a:spcPts val="5825"/>
              </a:lnSpc>
              <a:spcBef>
                <a:spcPct val="0"/>
              </a:spcBef>
            </a:pPr>
            <a:r>
              <a:rPr lang="en-US" sz="4160">
                <a:solidFill>
                  <a:srgbClr val="4740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Expand System to other LGU’s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77706">
            <a:off x="3377801" y="2664707"/>
            <a:ext cx="499456" cy="921814"/>
          </a:xfrm>
          <a:custGeom>
            <a:avLst/>
            <a:gdLst/>
            <a:ahLst/>
            <a:cxnLst/>
            <a:rect r="r" b="b" t="t" l="l"/>
            <a:pathLst>
              <a:path h="921814" w="499456">
                <a:moveTo>
                  <a:pt x="0" y="0"/>
                </a:moveTo>
                <a:lnTo>
                  <a:pt x="499456" y="0"/>
                </a:lnTo>
                <a:lnTo>
                  <a:pt x="499456" y="921814"/>
                </a:lnTo>
                <a:lnTo>
                  <a:pt x="0" y="921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3578" y="2509070"/>
            <a:ext cx="431652" cy="702392"/>
          </a:xfrm>
          <a:custGeom>
            <a:avLst/>
            <a:gdLst/>
            <a:ahLst/>
            <a:cxnLst/>
            <a:rect r="r" b="b" t="t" l="l"/>
            <a:pathLst>
              <a:path h="702392" w="431652">
                <a:moveTo>
                  <a:pt x="0" y="0"/>
                </a:moveTo>
                <a:lnTo>
                  <a:pt x="431651" y="0"/>
                </a:lnTo>
                <a:lnTo>
                  <a:pt x="431651" y="702392"/>
                </a:lnTo>
                <a:lnTo>
                  <a:pt x="0" y="702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354466">
            <a:off x="1686238" y="2102750"/>
            <a:ext cx="1046050" cy="283891"/>
          </a:xfrm>
          <a:custGeom>
            <a:avLst/>
            <a:gdLst/>
            <a:ahLst/>
            <a:cxnLst/>
            <a:rect r="r" b="b" t="t" l="l"/>
            <a:pathLst>
              <a:path h="283891" w="1046050">
                <a:moveTo>
                  <a:pt x="0" y="0"/>
                </a:moveTo>
                <a:lnTo>
                  <a:pt x="1046050" y="0"/>
                </a:lnTo>
                <a:lnTo>
                  <a:pt x="1046050" y="283892"/>
                </a:lnTo>
                <a:lnTo>
                  <a:pt x="0" y="283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16758" y="1694629"/>
            <a:ext cx="568624" cy="606092"/>
          </a:xfrm>
          <a:custGeom>
            <a:avLst/>
            <a:gdLst/>
            <a:ahLst/>
            <a:cxnLst/>
            <a:rect r="r" b="b" t="t" l="l"/>
            <a:pathLst>
              <a:path h="606092" w="568624">
                <a:moveTo>
                  <a:pt x="0" y="0"/>
                </a:moveTo>
                <a:lnTo>
                  <a:pt x="568624" y="0"/>
                </a:lnTo>
                <a:lnTo>
                  <a:pt x="568624" y="606092"/>
                </a:lnTo>
                <a:lnTo>
                  <a:pt x="0" y="606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1572" y="1308237"/>
            <a:ext cx="9704856" cy="712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11499">
                <a:solidFill>
                  <a:srgbClr val="474037"/>
                </a:solidFill>
                <a:latin typeface="Gochi Hand"/>
                <a:ea typeface="Gochi Hand"/>
                <a:cs typeface="Gochi Hand"/>
                <a:sym typeface="Gochi Hand"/>
              </a:rPr>
              <a:t>Thank you for listening.</a:t>
            </a:r>
          </a:p>
          <a:p>
            <a:pPr algn="ctr">
              <a:lnSpc>
                <a:spcPts val="9199"/>
              </a:lnSpc>
            </a:pPr>
            <a:r>
              <a:rPr lang="en-US" sz="11499">
                <a:solidFill>
                  <a:srgbClr val="1B91E6"/>
                </a:solidFill>
                <a:latin typeface="Gochi Hand"/>
                <a:ea typeface="Gochi Hand"/>
                <a:cs typeface="Gochi Hand"/>
                <a:sym typeface="Gochi Hand"/>
              </a:rPr>
              <a:t> </a:t>
            </a:r>
          </a:p>
          <a:p>
            <a:pPr algn="ctr">
              <a:lnSpc>
                <a:spcPts val="9199"/>
              </a:lnSpc>
            </a:pPr>
            <a:r>
              <a:rPr lang="en-US" sz="11499">
                <a:solidFill>
                  <a:srgbClr val="1B91E6"/>
                </a:solidFill>
                <a:latin typeface="Gochi Hand"/>
                <a:ea typeface="Gochi Hand"/>
                <a:cs typeface="Gochi Hand"/>
                <a:sym typeface="Gochi Hand"/>
              </a:rPr>
              <a:t>We are now open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DAG-fKHmVH8</dc:identifier>
  <dcterms:modified xsi:type="dcterms:W3CDTF">2011-08-01T06:04:30Z</dcterms:modified>
  <cp:revision>1</cp:revision>
  <dc:title>Brown Playful Pet Shop Presentation</dc:title>
</cp:coreProperties>
</file>